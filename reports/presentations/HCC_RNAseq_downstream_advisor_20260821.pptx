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60120" cy="64008"/>
          </a:xfrm>
          <a:prstGeom prst="rect">
            <a:avLst/>
          </a:prstGeom>
          <a:solidFill>
            <a:srgbClr val="C99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04088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66737C"/>
                </a:solidFill>
                <a:latin typeface="Microsoft YaHei"/>
              </a:rPr>
              <a:t>DRUGREP · TRANSCRIPTOMICS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59436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>
                <a:solidFill>
                  <a:srgbClr val="17324D"/>
                </a:solidFill>
                <a:latin typeface="Microsoft YaHei"/>
              </a:rPr>
              <a:t>HCC 候选药物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93392"/>
            <a:ext cx="5943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>
                <a:solidFill>
                  <a:srgbClr val="2E7D75"/>
                </a:solidFill>
                <a:latin typeface="Microsoft YaHei"/>
              </a:rPr>
              <a:t>RNA-seq 下游分析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761488"/>
            <a:ext cx="6309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0">
                <a:solidFill>
                  <a:srgbClr val="1F2933"/>
                </a:solidFill>
                <a:latin typeface="Microsoft YaHei"/>
              </a:rPr>
              <a:t>对 ZZH 前期核心表格的复核、稳健性分析与通路线索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051560"/>
            <a:ext cx="411480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353312"/>
            <a:ext cx="3520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17324D"/>
                </a:solidFill>
                <a:latin typeface="Microsoft YaHei"/>
              </a:rPr>
              <a:t>从样本到可讨论的机制线索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920240"/>
            <a:ext cx="1060704" cy="438912"/>
          </a:xfrm>
          <a:prstGeom prst="roundRect">
            <a:avLst/>
          </a:prstGeom>
          <a:solidFill>
            <a:srgbClr val="ECEFED"/>
          </a:solidFill>
          <a:ln w="8890">
            <a:solidFill>
              <a:srgbClr val="ECE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920240"/>
            <a:ext cx="106070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NC  ×3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51392" y="2139696"/>
            <a:ext cx="612648" cy="987552"/>
          </a:xfrm>
          <a:prstGeom prst="line">
            <a:avLst/>
          </a:prstGeom>
          <a:ln w="15240">
            <a:solidFill>
              <a:srgbClr val="B7C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26679" y="2578608"/>
            <a:ext cx="1060704" cy="438912"/>
          </a:xfrm>
          <a:prstGeom prst="roundRect">
            <a:avLst/>
          </a:prstGeom>
          <a:solidFill>
            <a:srgbClr val="F3E8CF"/>
          </a:solidFill>
          <a:ln w="8890">
            <a:solidFill>
              <a:srgbClr val="F3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78608"/>
            <a:ext cx="106070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Sora  ×3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51392" y="2798063"/>
            <a:ext cx="612648" cy="329185"/>
          </a:xfrm>
          <a:prstGeom prst="line">
            <a:avLst/>
          </a:prstGeom>
          <a:ln w="15240">
            <a:solidFill>
              <a:srgbClr val="B7C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26679" y="3236976"/>
            <a:ext cx="1060704" cy="438912"/>
          </a:xfrm>
          <a:prstGeom prst="roundRect">
            <a:avLst/>
          </a:prstGeom>
          <a:solidFill>
            <a:srgbClr val="E8EFF5"/>
          </a:solidFill>
          <a:ln w="8890"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236976"/>
            <a:ext cx="106070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Spi  ×3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851392" y="3127248"/>
            <a:ext cx="612648" cy="329184"/>
          </a:xfrm>
          <a:prstGeom prst="line">
            <a:avLst/>
          </a:prstGeom>
          <a:ln w="15240">
            <a:solidFill>
              <a:srgbClr val="B7C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79" y="3895344"/>
            <a:ext cx="1060704" cy="438912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E3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3895344"/>
            <a:ext cx="106070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Teg  ×3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851392" y="3127248"/>
            <a:ext cx="612648" cy="987552"/>
          </a:xfrm>
          <a:prstGeom prst="line">
            <a:avLst/>
          </a:prstGeom>
          <a:ln w="15240">
            <a:solidFill>
              <a:srgbClr val="B7C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64040" y="2487168"/>
            <a:ext cx="1664208" cy="1280160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B9D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2912" y="2596896"/>
            <a:ext cx="1426464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2E7D75"/>
                </a:solidFill>
                <a:latin typeface="Microsoft YaHei"/>
              </a:rPr>
              <a:t>QC → DEG
→ GSEA / ORA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995928"/>
            <a:ext cx="1261872" cy="457200"/>
          </a:xfrm>
          <a:prstGeom prst="roundRect">
            <a:avLst/>
          </a:prstGeom>
          <a:solidFill>
            <a:srgbClr val="E8EFF5"/>
          </a:solidFill>
          <a:ln w="8890"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995928"/>
            <a:ext cx="126187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17324D"/>
                </a:solidFill>
                <a:latin typeface="Microsoft YaHei"/>
              </a:rPr>
              <a:t>12 个样本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75104" y="3995928"/>
            <a:ext cx="1261872" cy="457200"/>
          </a:xfrm>
          <a:prstGeom prst="roundRect">
            <a:avLst/>
          </a:prstGeom>
          <a:solidFill>
            <a:srgbClr val="F3E8CF"/>
          </a:solidFill>
          <a:ln w="8890">
            <a:solidFill>
              <a:srgbClr val="F3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75104" y="3995928"/>
            <a:ext cx="126187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17324D"/>
                </a:solidFill>
                <a:latin typeface="Microsoft YaHei"/>
              </a:rPr>
              <a:t>3 个处理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9856" y="3995928"/>
            <a:ext cx="1261872" cy="457200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E3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3995928"/>
            <a:ext cx="126187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17324D"/>
                </a:solidFill>
                <a:latin typeface="Microsoft YaHei"/>
              </a:rPr>
              <a:t>3 套定量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965192"/>
            <a:ext cx="6309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A95A43"/>
                </a:solidFill>
                <a:latin typeface="Microsoft YaHei"/>
              </a:rPr>
              <a:t>结论边界：本次仅比较药物扰动，不能据此宣称 HCC 逆转或疗效。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035040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66737C"/>
                </a:solidFill>
                <a:latin typeface="Microsoft YaHei"/>
              </a:rPr>
              <a:t>2026-08-21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603504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>
                <a:solidFill>
                  <a:srgbClr val="66737C"/>
                </a:solidFill>
                <a:latin typeface="Microsoft YaHei"/>
              </a:rPr>
              <a:t>RNA-seq downstream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>
                <a:solidFill>
                  <a:srgbClr val="66737C"/>
                </a:solidFill>
                <a:latin typeface="Microsoft YaHei"/>
              </a:rPr>
              <a:t>DRUGREP · HCC RNA-SEQ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94360"/>
            <a:ext cx="99669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17324D"/>
                </a:solidFill>
                <a:latin typeface="Microsoft YaHei"/>
              </a:rPr>
              <a:t>汇报结构与下游分析路径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85800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2E7D75"/>
                </a:solidFill>
                <a:latin typeface="Microsoft YaHei"/>
              </a:rPr>
              <a:t>先验证，再解释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52144"/>
            <a:ext cx="11292840" cy="10972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>
                <a:solidFill>
                  <a:srgbClr val="2E7D75"/>
                </a:solidFill>
                <a:latin typeface="Microsoft YaHei"/>
              </a:rPr>
              <a:t>汇报结构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389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>
                <a:solidFill>
                  <a:srgbClr val="C9973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828800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17324D"/>
                </a:solidFill>
                <a:latin typeface="Microsoft YaHei"/>
              </a:rPr>
              <a:t>数据与质量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185416"/>
            <a:ext cx="2240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66737C"/>
                </a:solidFill>
                <a:latin typeface="Microsoft YaHei"/>
              </a:rPr>
              <a:t>输入是否完整、样本是否可信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1" y="2624328"/>
            <a:ext cx="2240280" cy="10972"/>
          </a:xfrm>
          <a:prstGeom prst="rect">
            <a:avLst/>
          </a:prstGeom>
          <a:solidFill>
            <a:srgbClr val="DDE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4389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>
                <a:solidFill>
                  <a:srgbClr val="C9973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2770632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17324D"/>
                </a:solidFill>
                <a:latin typeface="Microsoft YaHei"/>
              </a:rPr>
              <a:t>差异表达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127248"/>
            <a:ext cx="2240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66737C"/>
                </a:solidFill>
                <a:latin typeface="Microsoft YaHei"/>
              </a:rPr>
              <a:t>三种处理的响应幅度与方向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1" y="3566160"/>
            <a:ext cx="2240280" cy="10972"/>
          </a:xfrm>
          <a:prstGeom prst="rect">
            <a:avLst/>
          </a:prstGeom>
          <a:solidFill>
            <a:srgbClr val="DDE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12464"/>
            <a:ext cx="4389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>
                <a:solidFill>
                  <a:srgbClr val="C9973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4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17324D"/>
                </a:solidFill>
                <a:latin typeface="Microsoft YaHei"/>
              </a:rPr>
              <a:t>稳健性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069080"/>
            <a:ext cx="2240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66737C"/>
                </a:solidFill>
                <a:latin typeface="Microsoft YaHei"/>
              </a:rPr>
              <a:t>定量方法与统计方法是否一致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1" y="4507992"/>
            <a:ext cx="2240280" cy="10972"/>
          </a:xfrm>
          <a:prstGeom prst="rect">
            <a:avLst/>
          </a:prstGeom>
          <a:solidFill>
            <a:srgbClr val="DDE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54296"/>
            <a:ext cx="4389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>
                <a:solidFill>
                  <a:srgbClr val="C99738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654296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17324D"/>
                </a:solidFill>
                <a:latin typeface="Microsoft YaHei"/>
              </a:rPr>
              <a:t>通路与判断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5010912"/>
            <a:ext cx="2240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66737C"/>
                </a:solidFill>
                <a:latin typeface="Microsoft YaHei"/>
              </a:rPr>
              <a:t>候选药物差异、边界、下一步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1417320"/>
            <a:ext cx="7845552" cy="45537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6512" y="1719072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>
                <a:solidFill>
                  <a:srgbClr val="17324D"/>
                </a:solidFill>
                <a:latin typeface="Microsoft YaHei"/>
              </a:rPr>
              <a:t>已完成的下游分析步骤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6512" y="2304288"/>
            <a:ext cx="2029968" cy="1170432"/>
          </a:xfrm>
          <a:prstGeom prst="roundRect">
            <a:avLst/>
          </a:prstGeom>
          <a:solidFill>
            <a:srgbClr val="E8EFF5"/>
          </a:solidFill>
          <a:ln w="8890"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2816" y="2423160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241401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17324D"/>
                </a:solidFill>
                <a:latin typeface="Microsoft YaHei"/>
              </a:rPr>
              <a:t>输入核对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27889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19" b="0">
                <a:solidFill>
                  <a:srgbClr val="1F2933"/>
                </a:solidFill>
                <a:latin typeface="Microsoft YaHei"/>
              </a:rPr>
              <a:t>校验和 / 表结构 / 样本对应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55664" y="2304288"/>
            <a:ext cx="2029968" cy="1170432"/>
          </a:xfrm>
          <a:prstGeom prst="roundRect">
            <a:avLst/>
          </a:prstGeom>
          <a:solidFill>
            <a:srgbClr val="F3E8CF"/>
          </a:solidFill>
          <a:ln w="8890">
            <a:solidFill>
              <a:srgbClr val="F3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423160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241401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17324D"/>
                </a:solidFill>
                <a:latin typeface="Microsoft YaHei"/>
              </a:rPr>
              <a:t>表达 QC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7889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19" b="0">
                <a:solidFill>
                  <a:srgbClr val="1F2933"/>
                </a:solidFill>
                <a:latin typeface="Microsoft YaHei"/>
              </a:rPr>
              <a:t>库大小 / 相关性 / PCA / 热图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14816" y="2304288"/>
            <a:ext cx="2029968" cy="1170432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E3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2423160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241401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17324D"/>
                </a:solidFill>
                <a:latin typeface="Microsoft YaHei"/>
              </a:rPr>
              <a:t>DEG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7889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19" b="0">
                <a:solidFill>
                  <a:srgbClr val="1F2933"/>
                </a:solidFill>
                <a:latin typeface="Microsoft YaHei"/>
              </a:rPr>
              <a:t>RSEM–DESeq2 为主；复现阈值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96512" y="3877056"/>
            <a:ext cx="2029968" cy="1170432"/>
          </a:xfrm>
          <a:prstGeom prst="roundRect">
            <a:avLst/>
          </a:prstGeom>
          <a:solidFill>
            <a:srgbClr val="EDF0F1"/>
          </a:solidFill>
          <a:ln w="8890">
            <a:solidFill>
              <a:srgbClr val="ED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2816" y="3995928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3986784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17324D"/>
                </a:solidFill>
                <a:latin typeface="Microsoft YaHei"/>
              </a:rPr>
              <a:t>稳健性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2816" y="4361688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19" b="0">
                <a:solidFill>
                  <a:srgbClr val="1F2933"/>
                </a:solidFill>
                <a:latin typeface="Microsoft YaHei"/>
              </a:rPr>
              <a:t>Salmon / STAR；edgeR / limma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55664" y="3877056"/>
            <a:ext cx="2029968" cy="1170432"/>
          </a:xfrm>
          <a:prstGeom prst="roundRect">
            <a:avLst/>
          </a:prstGeom>
          <a:solidFill>
            <a:srgbClr val="F3E8CF"/>
          </a:solidFill>
          <a:ln w="8890">
            <a:solidFill>
              <a:srgbClr val="F3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3995928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3986784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17324D"/>
                </a:solidFill>
                <a:latin typeface="Microsoft YaHei"/>
              </a:rPr>
              <a:t>通路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4361688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19" b="0">
                <a:solidFill>
                  <a:srgbClr val="1F2933"/>
                </a:solidFill>
                <a:latin typeface="Microsoft YaHei"/>
              </a:rPr>
              <a:t>全基因 Wald 排序 GSEA；上下调 ORA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14816" y="3877056"/>
            <a:ext cx="2029968" cy="1170432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E3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3995928"/>
            <a:ext cx="274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3986784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17324D"/>
                </a:solidFill>
                <a:latin typeface="Microsoft YaHei"/>
              </a:rPr>
              <a:t>横向比较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361688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19" b="0">
                <a:solidFill>
                  <a:srgbClr val="1F2933"/>
                </a:solidFill>
                <a:latin typeface="Microsoft YaHei"/>
              </a:rPr>
              <a:t>基因、DEG、NES、leading edge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4114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内部讨论 · 2026-08-21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11712" y="6547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>
                <a:solidFill>
                  <a:srgbClr val="66737C"/>
                </a:solidFill>
                <a:latin typeface="Microsoft YaHei"/>
              </a:rPr>
              <a:t>DRUGREP · HCC RNA-SEQ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94360"/>
            <a:ext cx="99669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17324D"/>
                </a:solidFill>
                <a:latin typeface="Microsoft YaHei"/>
              </a:rPr>
              <a:t>原始数据与质量控制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85800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2E7D75"/>
                </a:solidFill>
                <a:latin typeface="Microsoft YaHei"/>
              </a:rPr>
              <a:t>12 样本 · 4 组 · n=3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52144"/>
            <a:ext cx="11292840" cy="10972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>
                <a:solidFill>
                  <a:srgbClr val="2E7D75"/>
                </a:solidFill>
                <a:latin typeface="Microsoft YaHei"/>
              </a:rPr>
              <a:t>输入组成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764792"/>
            <a:ext cx="896112" cy="612648"/>
          </a:xfrm>
          <a:prstGeom prst="roundRect">
            <a:avLst/>
          </a:prstGeom>
          <a:solidFill>
            <a:srgbClr val="ECEFED"/>
          </a:solidFill>
          <a:ln w="8890">
            <a:solidFill>
              <a:srgbClr val="ECE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19656"/>
            <a:ext cx="896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84831"/>
            <a:ext cx="896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3 replicates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9343" y="1764792"/>
            <a:ext cx="896112" cy="612648"/>
          </a:xfrm>
          <a:prstGeom prst="roundRect">
            <a:avLst/>
          </a:prstGeom>
          <a:solidFill>
            <a:srgbClr val="F3E8CF"/>
          </a:solidFill>
          <a:ln w="8890">
            <a:solidFill>
              <a:srgbClr val="F3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3" y="1819656"/>
            <a:ext cx="896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Sora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3" y="2084831"/>
            <a:ext cx="896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3 replicates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8336" y="1764792"/>
            <a:ext cx="896112" cy="612648"/>
          </a:xfrm>
          <a:prstGeom prst="roundRect">
            <a:avLst/>
          </a:prstGeom>
          <a:solidFill>
            <a:srgbClr val="E8EFF5"/>
          </a:solidFill>
          <a:ln w="8890"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819656"/>
            <a:ext cx="896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Spi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084831"/>
            <a:ext cx="896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3 replicates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67328" y="1764792"/>
            <a:ext cx="896112" cy="612648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E3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1819656"/>
            <a:ext cx="896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Teg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2084831"/>
            <a:ext cx="896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3 replicates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615184"/>
            <a:ext cx="4160520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834640"/>
            <a:ext cx="3712463" cy="21031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ZZH 已完成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019" b="0">
                <a:solidFill>
                  <a:srgbClr val="1F2933"/>
                </a:solidFill>
                <a:latin typeface="Microsoft YaHei"/>
              </a:rPr>
              <a:t>QC / 比对 / 表达定量 / DESeq2 / edgeR / limma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本次复核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019" b="0">
                <a:solidFill>
                  <a:srgbClr val="1F2933"/>
                </a:solidFill>
                <a:latin typeface="Microsoft YaHei"/>
              </a:rPr>
              <a:t>52 个校验和；样本名一致；计数非负；DEG 阈值完全复现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100" b="1">
                <a:solidFill>
                  <a:srgbClr val="A95A43"/>
                </a:solidFill>
                <a:latin typeface="Microsoft YaHei"/>
              </a:rPr>
              <a:t>仍缺失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1F2933"/>
                </a:solidFill>
                <a:latin typeface="Microsoft YaHei"/>
              </a:rPr>
              <a:t>FASTQ 级 QC、比对汇总、完整实验与批次信息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321808"/>
            <a:ext cx="4160520" cy="621792"/>
          </a:xfrm>
          <a:prstGeom prst="roundRect">
            <a:avLst/>
          </a:prstGeom>
          <a:solidFill>
            <a:srgbClr val="F3E6E1"/>
          </a:solidFill>
          <a:ln w="8890">
            <a:solidFill>
              <a:srgbClr val="E4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3749039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>
                <a:solidFill>
                  <a:srgbClr val="A95A43"/>
                </a:solidFill>
                <a:latin typeface="Microsoft YaHei"/>
              </a:rPr>
              <a:t>注释合并最后一步报错，但核心计数与 DE 表均可用。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1399032"/>
            <a:ext cx="6647688" cy="45537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1664208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>
                <a:solidFill>
                  <a:srgbClr val="17324D"/>
                </a:solidFill>
                <a:latin typeface="Microsoft YaHei"/>
              </a:rPr>
              <a:t>PCA：各组分离，组内重复紧密</a:t>
            </a:r>
          </a:p>
        </p:txBody>
      </p:sp>
      <p:pic>
        <p:nvPicPr>
          <p:cNvPr id="26" name="Picture 25" descr="pca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04" y="2011680"/>
            <a:ext cx="5122831" cy="3383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40096" y="5513832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66737C"/>
                </a:solidFill>
                <a:latin typeface="Microsoft YaHei"/>
              </a:rPr>
              <a:t>PC1 70.8% · PC2 16.3%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5513832"/>
            <a:ext cx="3611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2E7D75"/>
                </a:solidFill>
                <a:latin typeface="Microsoft YaHei"/>
              </a:rPr>
              <a:t>组内平均相关性 0.9967–0.9981；未标记离群样本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4114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内部讨论 · 2026-08-21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547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>
                <a:solidFill>
                  <a:srgbClr val="66737C"/>
                </a:solidFill>
                <a:latin typeface="Microsoft YaHei"/>
              </a:rPr>
              <a:t>DRUGREP · HCC RNA-SEQ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94360"/>
            <a:ext cx="99669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17324D"/>
                </a:solidFill>
                <a:latin typeface="Microsoft YaHei"/>
              </a:rPr>
              <a:t>差异表达：Sora 响应最广，Teg 次之，Spi 较窄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85800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2E7D75"/>
                </a:solidFill>
                <a:latin typeface="Microsoft YaHei"/>
              </a:rPr>
              <a:t>RSEM–DESeq2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52144"/>
            <a:ext cx="11292840" cy="10972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399032"/>
            <a:ext cx="1645920" cy="1124712"/>
          </a:xfrm>
          <a:prstGeom prst="roundRect">
            <a:avLst/>
          </a:prstGeom>
          <a:solidFill>
            <a:srgbClr val="F3E8CF"/>
          </a:solidFill>
          <a:ln w="8890">
            <a:solidFill>
              <a:srgbClr val="F3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13898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1">
                <a:solidFill>
                  <a:srgbClr val="17324D"/>
                </a:solidFill>
                <a:latin typeface="Microsoft YaHei"/>
              </a:rPr>
              <a:t>Sora vs 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01368"/>
            <a:ext cx="13898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2200" b="1">
                <a:solidFill>
                  <a:srgbClr val="17324D"/>
                </a:solidFill>
                <a:latin typeface="Microsoft YaHei"/>
              </a:rPr>
              <a:t>2,246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21992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1,292 ↑  /  954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4016" y="1399032"/>
            <a:ext cx="1645920" cy="1124712"/>
          </a:xfrm>
          <a:prstGeom prst="roundRect">
            <a:avLst/>
          </a:prstGeom>
          <a:solidFill>
            <a:srgbClr val="E8EFF5"/>
          </a:solidFill>
          <a:ln w="8890"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536192"/>
            <a:ext cx="13898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1">
                <a:solidFill>
                  <a:srgbClr val="17324D"/>
                </a:solidFill>
                <a:latin typeface="Microsoft YaHei"/>
              </a:rPr>
              <a:t>Spi vs 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801368"/>
            <a:ext cx="13898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2200" b="1">
                <a:solidFill>
                  <a:srgbClr val="17324D"/>
                </a:solidFill>
                <a:latin typeface="Microsoft YaHei"/>
              </a:rPr>
              <a:t>421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221992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192 ↑  /  229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99032"/>
            <a:ext cx="1645920" cy="1124712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E3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536192"/>
            <a:ext cx="13898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1">
                <a:solidFill>
                  <a:srgbClr val="17324D"/>
                </a:solidFill>
                <a:latin typeface="Microsoft YaHei"/>
              </a:rPr>
              <a:t>Teg vs 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801368"/>
            <a:ext cx="13898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2200" b="1">
                <a:solidFill>
                  <a:srgbClr val="17324D"/>
                </a:solidFill>
                <a:latin typeface="Microsoft YaHei"/>
              </a:rPr>
              <a:t>657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221992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442 ↑  /  215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399032"/>
            <a:ext cx="5321808" cy="11247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600200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>
                <a:solidFill>
                  <a:srgbClr val="66737C"/>
                </a:solidFill>
                <a:latin typeface="Microsoft YaHei"/>
              </a:rPr>
              <a:t>判定阈值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65376"/>
            <a:ext cx="2971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7324D"/>
                </a:solidFill>
                <a:latin typeface="Microsoft YaHei"/>
              </a:rPr>
              <a:t>FDR &lt; 0.05  且  |log2FC| ≥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865376"/>
            <a:ext cx="2560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</a:pPr>
            <a:r>
              <a:rPr sz="1000" b="1">
                <a:solidFill>
                  <a:srgbClr val="2E7D75"/>
                </a:solidFill>
                <a:latin typeface="Microsoft YaHei"/>
              </a:rPr>
              <a:t>三套定量的存档 DEG 均被精确复现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2770632"/>
            <a:ext cx="11100816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olcano_tripty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56" y="2962656"/>
            <a:ext cx="5605407" cy="2670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1248" y="5687568"/>
            <a:ext cx="49377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A95A43"/>
                </a:solidFill>
                <a:latin typeface="Microsoft YaHei"/>
              </a:rPr>
              <a:t>DEG 数量反映扰动幅度，不直接代表药物优劣。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687568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2E7D75"/>
                </a:solidFill>
                <a:latin typeface="Microsoft YaHei"/>
              </a:rPr>
              <a:t>Sora 的 DEG 数约为 Teg 的 3.4×、Spi 的 5.3×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4114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内部讨论 · 2026-08-21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547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>
                <a:solidFill>
                  <a:srgbClr val="66737C"/>
                </a:solidFill>
                <a:latin typeface="Microsoft YaHei"/>
              </a:rPr>
              <a:t>DRUGREP · HCC RNA-SEQ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94360"/>
            <a:ext cx="99669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17324D"/>
                </a:solidFill>
                <a:latin typeface="Microsoft YaHei"/>
              </a:rPr>
              <a:t>稳健性与候选药物相似性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85800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2E7D75"/>
                </a:solidFill>
                <a:latin typeface="Microsoft YaHei"/>
              </a:rPr>
              <a:t>方向一致性优先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52144"/>
            <a:ext cx="11292840" cy="10972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623560" cy="44074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114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跨定量 / 统计方法的 log2FC 一致性</a:t>
            </a:r>
          </a:p>
        </p:txBody>
      </p:sp>
      <p:pic>
        <p:nvPicPr>
          <p:cNvPr id="9" name="Picture 8" descr="method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1944"/>
            <a:ext cx="5074920" cy="31290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340096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>
                <a:solidFill>
                  <a:srgbClr val="2E7D75"/>
                </a:solidFill>
                <a:latin typeface="Microsoft YaHei"/>
              </a:rPr>
              <a:t>共享 DEG 的方向一致率：100%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5340096"/>
            <a:ext cx="31272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880" b="0">
                <a:solidFill>
                  <a:srgbClr val="66737C"/>
                </a:solidFill>
                <a:latin typeface="Microsoft YaHei"/>
              </a:rPr>
              <a:t>Hallmark NES：RSEM vs Salmon/STAR ρ=0.989–0.999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389888"/>
            <a:ext cx="5248656" cy="44074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64208"/>
            <a:ext cx="32918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相对 Sora 的扰动相似性</a:t>
            </a:r>
          </a:p>
        </p:txBody>
      </p:sp>
      <p:pic>
        <p:nvPicPr>
          <p:cNvPr id="14" name="Picture 13" descr="sorafenib_simi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360" y="2011680"/>
            <a:ext cx="4494662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711696" y="5038344"/>
            <a:ext cx="4553712" cy="512064"/>
          </a:xfrm>
          <a:prstGeom prst="roundRect">
            <a:avLst/>
          </a:prstGeom>
          <a:solidFill>
            <a:srgbClr val="E3EFEC"/>
          </a:solidFill>
          <a:ln w="8890">
            <a:solidFill>
              <a:srgbClr val="E3E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5148072"/>
            <a:ext cx="420624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1">
                <a:solidFill>
                  <a:srgbClr val="2E7D75"/>
                </a:solidFill>
                <a:latin typeface="Microsoft YaHei"/>
              </a:rPr>
              <a:t>Teg 与 Sora 更接近：ρgene=0.568；ρpathway=0.722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5989320"/>
            <a:ext cx="11100816" cy="365760"/>
          </a:xfrm>
          <a:prstGeom prst="roundRect">
            <a:avLst/>
          </a:prstGeom>
          <a:solidFill>
            <a:srgbClr val="F3E6E1"/>
          </a:solidFill>
          <a:ln w="8890">
            <a:solidFill>
              <a:srgbClr val="F3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044184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1">
                <a:solidFill>
                  <a:srgbClr val="A95A43"/>
                </a:solidFill>
                <a:latin typeface="Microsoft YaHei"/>
              </a:rPr>
              <a:t>相似性仅描述转录组扰动，不是疗效分数；DEG 重叠也不能替代全基因与通路比较。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4114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内部讨论 · 2026-08-21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547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1">
                <a:solidFill>
                  <a:srgbClr val="C99738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>
                <a:solidFill>
                  <a:srgbClr val="66737C"/>
                </a:solidFill>
                <a:latin typeface="Microsoft YaHei"/>
              </a:rPr>
              <a:t>DRUGREP · HCC RNA-SEQ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94360"/>
            <a:ext cx="99669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17324D"/>
                </a:solidFill>
                <a:latin typeface="Microsoft YaHei"/>
              </a:rPr>
              <a:t>通路线索、判断边界与下一步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85800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2E7D75"/>
                </a:solidFill>
                <a:latin typeface="Microsoft YaHei"/>
              </a:rPr>
              <a:t>与 ZZH 对齐后推进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52144"/>
            <a:ext cx="11292840" cy="10972"/>
          </a:xfrm>
          <a:prstGeom prst="rect">
            <a:avLst/>
          </a:prstGeom>
          <a:solidFill>
            <a:srgbClr val="D8D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6601968" cy="44988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3931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Hallmark GSEA：候选药物呈现不同程序</a:t>
            </a:r>
          </a:p>
        </p:txBody>
      </p:sp>
      <p:pic>
        <p:nvPicPr>
          <p:cNvPr id="9" name="Picture 8" descr="hallmar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02" y="1993392"/>
            <a:ext cx="4630690" cy="3593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568696"/>
            <a:ext cx="59253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69" b="0">
                <a:solidFill>
                  <a:srgbClr val="66737C"/>
                </a:solidFill>
                <a:latin typeface="Microsoft YaHei"/>
              </a:rPr>
              <a:t>ORA 印证：三组 TNF 相关下调；Sora 凝血/补体上调；Teg 缺氧相关上调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389888"/>
            <a:ext cx="4270248" cy="2167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6096" y="1645920"/>
            <a:ext cx="3730752" cy="16824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当前判断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60" b="0">
                <a:solidFill>
                  <a:srgbClr val="1F2933"/>
                </a:solidFill>
                <a:latin typeface="Microsoft YaHei"/>
              </a:rPr>
              <a:t>Teg：MYC / E2F / G2M 负向富集；伴随缺氧、糖酵解正向富集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60" b="0">
                <a:solidFill>
                  <a:srgbClr val="1F2933"/>
                </a:solidFill>
                <a:latin typeface="Microsoft YaHei"/>
              </a:rPr>
              <a:t>Spi：更偏 TNF/NF-κB、IL/JAK/STAT 与应激程序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60" b="1">
                <a:solidFill>
                  <a:srgbClr val="2E7D75"/>
                </a:solidFill>
                <a:latin typeface="Microsoft YaHei"/>
              </a:rPr>
              <a:t>优先区分：Teg 的 Sora-like 收敛 vs Spi 的差异机制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749039"/>
            <a:ext cx="4270248" cy="1389888"/>
          </a:xfrm>
          <a:prstGeom prst="roundRect">
            <a:avLst/>
          </a:prstGeom>
          <a:solidFill>
            <a:srgbClr val="F3E8CF"/>
          </a:solidFill>
          <a:ln w="8890">
            <a:solidFill>
              <a:srgbClr val="E4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3941063"/>
            <a:ext cx="3749039" cy="1005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50" b="1">
                <a:solidFill>
                  <a:srgbClr val="17324D"/>
                </a:solidFill>
                <a:latin typeface="Microsoft YaHei"/>
              </a:rPr>
              <a:t>需要 ZZH 确认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30" b="0">
                <a:solidFill>
                  <a:srgbClr val="1F2933"/>
                </a:solidFill>
                <a:latin typeface="Microsoft YaHei"/>
              </a:rPr>
              <a:t>• Spi / Teg 全名；细胞系、剂量、处理时长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30" b="0">
                <a:solidFill>
                  <a:srgbClr val="1F2933"/>
                </a:solidFill>
                <a:latin typeface="Microsoft YaHei"/>
              </a:rPr>
              <a:t>• 基因组/注释版本、建库与链特异性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30" b="0">
                <a:solidFill>
                  <a:srgbClr val="1F2933"/>
                </a:solidFill>
                <a:latin typeface="Microsoft YaHei"/>
              </a:rPr>
              <a:t>• 批次设计；FastQC/MultiQC 与比对汇总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5340096"/>
            <a:ext cx="4270248" cy="548640"/>
          </a:xfrm>
          <a:prstGeom prst="roundRect">
            <a:avLst/>
          </a:prstGeom>
          <a:solidFill>
            <a:srgbClr val="F3E6E1"/>
          </a:solidFill>
          <a:ln w="8890">
            <a:solidFill>
              <a:srgbClr val="E4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5449824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1">
                <a:solidFill>
                  <a:srgbClr val="A95A43"/>
                </a:solidFill>
                <a:latin typeface="Microsoft YaHei"/>
              </a:rPr>
              <a:t>无肿瘤–正常签名：不能建立 HCC 逆转或疗效结论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107442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19" b="1">
                <a:solidFill>
                  <a:srgbClr val="17324D"/>
                </a:solidFill>
                <a:latin typeface="Microsoft YaHei"/>
              </a:rPr>
              <a:t>建议下一步：用 qPCR / 蛋白与增殖、凋亡、细胞周期表型验证 leading-edge 基因。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4114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66737C"/>
                </a:solidFill>
                <a:latin typeface="Microsoft YaHei"/>
              </a:rPr>
              <a:t>内部讨论 · 结论需结合实验元数据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11712" y="6547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800" b="0">
                <a:solidFill>
                  <a:srgbClr val="66737C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